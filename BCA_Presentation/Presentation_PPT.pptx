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306" r:id="rId4"/>
    <p:sldId id="258" r:id="rId5"/>
    <p:sldId id="282" r:id="rId6"/>
    <p:sldId id="261" r:id="rId7"/>
    <p:sldId id="287" r:id="rId8"/>
    <p:sldId id="262" r:id="rId9"/>
    <p:sldId id="263" r:id="rId10"/>
    <p:sldId id="264" r:id="rId11"/>
    <p:sldId id="302" r:id="rId12"/>
    <p:sldId id="298" r:id="rId13"/>
    <p:sldId id="303" r:id="rId14"/>
    <p:sldId id="300" r:id="rId15"/>
    <p:sldId id="299" r:id="rId16"/>
    <p:sldId id="266" r:id="rId17"/>
    <p:sldId id="265" r:id="rId18"/>
    <p:sldId id="289" r:id="rId19"/>
    <p:sldId id="290" r:id="rId20"/>
    <p:sldId id="292" r:id="rId21"/>
    <p:sldId id="293" r:id="rId22"/>
    <p:sldId id="304" r:id="rId23"/>
    <p:sldId id="267" r:id="rId24"/>
    <p:sldId id="294" r:id="rId25"/>
    <p:sldId id="275" r:id="rId26"/>
    <p:sldId id="297" r:id="rId27"/>
    <p:sldId id="270" r:id="rId28"/>
    <p:sldId id="295" r:id="rId29"/>
    <p:sldId id="274" r:id="rId30"/>
    <p:sldId id="269" r:id="rId31"/>
    <p:sldId id="273" r:id="rId32"/>
    <p:sldId id="27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59C545-DF7E-4AFC-7133-98CA7FEA7D89}" name="Printo Mathew" initials="PM" userId="7d8398fbb0ec21d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3987A-301B-4B45-8057-8CD07CE0809E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64DDB-D41F-448C-9348-1E9F0316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56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8BAB-56FD-82BC-F888-6878A884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EE9A2-5835-B464-E686-484230177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95148-2EB8-B9F1-CAF3-23C3865D0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B0100-F454-3D98-4015-B959A69BB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19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CF119-BF5E-5977-F1D5-64F186638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0D30A-5ADE-0207-7CB6-3F99EF177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1E98F-C761-8AA4-5218-5E4D692D4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9CA83-ACA8-F502-284F-7EB4C107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94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4926B-A2CA-AFBC-5698-BDB45663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D98B6-06C4-B803-361A-ABDE6DA55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A5471-41E6-CC56-9D9C-F412C6DCF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CF948-8399-75EF-3EA9-AA861AEA4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86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BCC87-6A0D-EAC2-2BB5-61FED0DE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33E36-8C07-36B8-D593-67E091C49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1D0B8-EBDF-5856-DFAC-5351E8870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0349C-6C9E-4509-5DD8-4902F3DF4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79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4574-AF1E-F9C1-3857-EE2E4111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2AE2B-8C12-C0EA-09A7-593DF823E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FA879-08EB-A516-D2CB-32ABBED33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49376-ECEF-94D8-691D-1378E6108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91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B4DE-B36F-F351-3F46-F06BAFD5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018C6-578D-3701-46AD-BFD32AEDC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D6E33-A321-A0C5-1C7C-12575946A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C1737-F83A-D4C0-8CEB-9514D67D5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81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EFF5-896C-0FFA-66D6-E0302585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A8F13-F0D2-DF20-D19A-CDF81E67A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CF429-0ACE-6A09-0791-1A56BD2DE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A6021-1EFD-6892-44B2-2A918C050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73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81AEF-86A8-44E4-E5D8-7D21E5BA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07083-A75E-B28E-0D75-CD7631540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786C4-A2D2-AA47-13AF-DD02678AF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474E0-5557-8694-715E-D2C900F82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08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C5B2-398C-873C-7985-0B305912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EB106-135F-2688-C28D-124E47CCE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F2B86-B7E2-55E0-C7BA-0DC75EE0B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48BB4-1C30-4534-9CF4-8328D2001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20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E00B-D444-8E9B-FFF7-FAE7ED03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E819A-3579-FFB2-F2A6-0A1902F3F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4884C-C17C-FAD1-B620-C5D074223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A9577-66EA-0815-367D-7CDBD9000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66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7009-5F73-8AD9-051D-690C6821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1FABD-6E76-5B11-538E-663F21DBA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2DD65-5BCC-69E5-CA37-AC0258566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66F4C-3B98-01C1-833B-8D64F9C33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95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D637-C08E-5EAE-EF12-992FAA7C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F9A99-045E-D80C-20AB-014DB71A1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1AAF8-5F05-7DC9-870D-DC17A1E2C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E6AC6-8A67-15E8-9571-627247F02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47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AEFD-A043-E6A9-1316-6BD54D41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F4C04-BD90-053F-C79B-D635E1803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2BB77-CEAF-0C46-43A0-BD4028618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E2477-F773-AE1C-B545-B310FA637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1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D8BA-E74C-92F3-E157-F3472B3A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F7263-FFAB-55C2-4555-0C4CB12F6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D1CB4-EBD2-33FD-F8BD-0626568E6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5E15A-B472-D661-04E3-0AD452188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38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8C4D-CA4B-3E3B-DF5D-E23ED6C91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0BD41-2A60-1FDD-1459-940EAD222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85FD2-CEBE-FD28-064A-16492E8B6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A5DF0-6DD6-A3CC-85E1-8F3D4DE55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12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C03D-32A1-291C-D063-C1DB3049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58A62-A1C4-49B6-DA15-410E3069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BC11E-6D1D-7C0A-04E1-9E6D6E837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02A59-79D4-0F91-2350-DF43CF8E0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46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839E5-3168-ADC2-896D-D6DD6A48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70ABA-A17A-A436-01F6-74D1DDEBA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547C8-48A4-00E7-5DBD-5A3472205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CA202-1473-7E24-5915-B36ECB079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11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5E48-F65A-B8DA-05FA-82B79B24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C2AE5-7FBC-A1D4-A91D-1D94DE588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DFAB2-E0E7-C5AB-F0A0-29440F41F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5A3CC-8478-DEFF-E51F-AC9DBD8F6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23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C7FB-334F-5D45-7023-68A1FEFC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82C3E-B09E-D895-43C9-7573C4B96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2E07B-5B9E-8DB5-358A-8505D524E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87185-D665-BB59-4665-45B35B0F0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45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8BD23-3037-FCC2-3A4D-1D57DC3B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9B50C-91D1-E49F-B531-A5F60EF44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43F9F-6F8F-EFFB-D8DE-F8B24A1E6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54342-D138-3201-D65B-2AF6A3F9C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98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3316-0174-61D9-0DE5-EEF63B2E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A69E0-A559-4C6D-4643-328E03192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D5537-AEFF-D26B-723B-CF5675732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4C102-B3F8-DB8A-2CFC-24EA0ED60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64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3CC8-73E7-897D-F96C-0DD06746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E57DE-BBCC-7822-2640-7CA22440F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9B430-FF73-C1C6-BC96-71340AD1B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564A7-9450-ECB1-6F7E-F93BBC751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4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379E-D924-8A7D-C943-E79188C93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C9697-0C45-78C6-128D-E91E493F5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EAE7C-A756-6104-9EB8-A25C7EABF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B9D56-DDA1-0AA4-5790-9A204EF10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15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5D4E-A983-866D-F40E-EB3C6F55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49C21-0284-9A13-4F8A-B0CA11131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E6D42-0627-53FA-8D16-C26DD3640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FE2C4-CDEF-9303-8287-D90C3F18C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564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D56C-9798-0839-9380-FB42C497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E3230-1FBB-F237-F5C1-8A4169B8A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43CC9-E91D-E126-4277-213B9EDF4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FA7B0-FF94-DABB-2F75-1DBFD2558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54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903B-21B8-9BE9-20EA-54FA4BE7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40A99-9C03-3E77-ADD6-347D73D43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8174E-172E-3B6C-4682-5079E05B3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F6FE6-59C6-B24F-6B4B-52E619946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96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9CA0F-C9A6-903A-1920-3D25154FA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FC969-28CB-B151-3EF7-1B9F9630A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EAC1F-3066-B140-2FCA-95E6FFE87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E29C6-F264-C4CA-71A5-90A11CA76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240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7203-971B-1233-364B-CA9B9152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FB056-F8A4-D207-AD24-1A659E3F3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45742-3691-54BB-B989-E60A49D9F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16E69-D4BA-9762-EB69-E2E5A155F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86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5CF3-6F80-A72F-9033-2B047874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032E6-D837-8175-F3BE-A80F8BAB8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06AF7-2A56-DB01-5C04-2AEAC8DEB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D8A3E-8A1C-E522-D795-FA444FEBF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714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0C64-53E0-D467-E6B3-255C1424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DD521-C578-3180-4897-4D1416328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8D115-C6BE-DED3-7CEE-BC6940FD7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0C19B-B43B-4259-DCD8-165339FF6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64DDB-D41F-448C-9348-1E9F0316408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9FDF-E5EB-4BA2-1E4A-4B9E96066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0D9E8-C487-91F8-094D-EF2A7F777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8FAC5-2FD6-760D-81DF-92209C89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1879-6FC2-4F77-BB83-D6A110E2E14B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D98E7-0E2F-6992-14C1-D76B357A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136A5-A5B2-6AD6-094C-0B93248D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32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D596-4359-0A49-3426-207E5C6D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29385-6728-79AB-6391-539ECDCFD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E0665-C14E-2015-912F-0CFDD294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BB7D-0ECE-455D-97E5-EDCDF8AE6615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52B70-9A28-1966-C927-E808BE90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F06A1-D3ED-0EC2-D994-A9A55692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4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6123-EBA5-8F3F-9313-E7AB1368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555E9-0831-7F9C-C355-FD82F2F39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46B1-D5B8-986C-447B-38B5F6C0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E5841-65E6-48D7-8669-3EB5E1BF3CD2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280FD-5A44-CED0-2D3C-035DF469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B5B9D-A80A-47D6-41FE-B4A6F9C7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7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5DD9-55F4-C63B-3B9E-BEC55EAC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BDEB-6596-0F83-6820-AF6A75E15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0AAAC-76F8-DEC4-8308-FA937C0A1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99EC0-8B47-3BE2-4E13-70F89309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67A74-237C-45D9-BBA4-DBB95F0FAF65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1DBB2-0C6D-DBB0-CB79-228014CF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E15AC-4F5F-CB4D-763E-2A5B3960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4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2BCF-B676-DDCE-D059-2369EF68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ADC93-FBF0-28DE-5917-CDDDF9EB5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4DD52-E6F2-AF14-0D60-09E72CFA4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0D1A1-3F0D-C56D-F5BD-971CC4DC6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4971C-258A-10F1-4544-748F73F88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F4B4A-60F4-968E-A34B-DD4421DB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15766-8821-4615-9771-989EEDC74DB3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7E8EB1-6F7E-7B99-00E2-54F8060F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D0422-F1D2-537C-7BA4-C30D53DC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0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45DA-ABB0-BB6C-D8A6-2879EFDE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5683C-2B73-F486-295E-5467FBC8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29429-9AB5-4473-AC0E-D483AEADF8EA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D6130-DF28-619A-53A4-6ECEFE6C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3AF03-7ABF-C58D-E208-FA04C4A8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4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97E1F-306F-8744-B513-CDDC0F6B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FABB0-46D8-4727-AFE3-61F6865CA46A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EFE2B-BB95-4C0F-0962-CBD8E515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D06D5-2D50-41C0-B655-3B84547A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7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3AC61-4B89-387C-0F6F-C539001D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B0CCE-66C6-D07F-163E-C751940B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3A2A9-FEC1-23AC-835F-36FA952B4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DAAEB-5B05-6389-9345-6F624604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B7E1-952B-4646-8296-72567366DB78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42E6F-9098-F52C-C9F8-4DA472FF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BA2C2-86FC-1953-D4F9-62FDDD09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5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1FD5-0399-F479-905B-36062BD3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3113B-C644-840A-A133-0C35CB186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1832A-1BAE-E2D9-6FC3-B6BDB4081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7D22E-B17D-F019-5FCF-9B225F868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221F-2500-4EEB-B840-D99009C4869C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CAAC6-6A2A-3936-A33A-46ACF9C5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82F3F-B2CF-A681-BDC1-B0D41FBA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5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6A3A3-18F8-59C9-7366-37131EA8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AFD93-7196-D671-05A1-1BD7534CD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BCF3-6BDE-2780-091C-CDF206D4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E9AEC-6F40-4FC2-B1E7-CB99B966AAFA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50051-4BA7-8AAA-E189-2B74E460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68CF4-7310-BA4C-E4A1-3603B226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9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9A671-3AAE-E7FB-D07B-050D3EAF4D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CF2C3-FF91-9A60-4B39-CC9DC130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8A501-4F6A-4541-F0CD-794B92F1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DEF5-9FE5-4DD9-B252-42463AED9733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91E34-E983-3263-70D9-FF9E8692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4D5D8-443F-8B4E-B9D8-23ECA9DC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4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D1C00-CEF2-9AE0-2C4F-FA6A5C52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C9C54-6A20-2B5F-7A2D-B8AEC1288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B6F29-3E3E-8B07-7817-615C153D9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0C2B-0D87-488F-9C37-1949C0A8294D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B173C-D074-C7A8-3C3E-BC5E9D859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7C8D6-9EDF-D4E1-116B-301F27DB7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E21F7-9AFC-4BD0-BF54-87EC5537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8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16ED-8278-CA52-7567-7AF5894857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458-8FC9-110D-4BE9-E4161F8660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69EC20-4F12-240A-0DEF-6200F4DAB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0689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E9820A-57FE-6F1E-2A03-A8610DBCC659}"/>
              </a:ext>
            </a:extLst>
          </p:cNvPr>
          <p:cNvSpPr/>
          <p:nvPr/>
        </p:nvSpPr>
        <p:spPr>
          <a:xfrm>
            <a:off x="6917844" y="-371234"/>
            <a:ext cx="5262880" cy="7600468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DD770-FCB3-8C11-9BF1-3C81D5907A94}"/>
              </a:ext>
            </a:extLst>
          </p:cNvPr>
          <p:cNvSpPr txBox="1"/>
          <p:nvPr/>
        </p:nvSpPr>
        <p:spPr>
          <a:xfrm>
            <a:off x="31596" y="446038"/>
            <a:ext cx="130443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</a:t>
            </a:r>
          </a:p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029E9-F1DA-61A8-3DDC-047250C0802C}"/>
              </a:ext>
            </a:extLst>
          </p:cNvPr>
          <p:cNvSpPr txBox="1"/>
          <p:nvPr/>
        </p:nvSpPr>
        <p:spPr>
          <a:xfrm>
            <a:off x="7426960" y="3313577"/>
            <a:ext cx="53260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pPr algn="just"/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MRS. CHITHRA B</a:t>
            </a:r>
          </a:p>
          <a:p>
            <a:pPr algn="just"/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ASST. PROFESSOR, BCA</a:t>
            </a:r>
          </a:p>
          <a:p>
            <a:pPr algn="just"/>
            <a:endParaRPr lang="en-US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algn="just"/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NAME : PRINTO MATHEW</a:t>
            </a:r>
          </a:p>
          <a:p>
            <a:pPr algn="just"/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CLASS : S6 BCA</a:t>
            </a:r>
          </a:p>
          <a:p>
            <a:pPr algn="just"/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REG NO : 220021087299</a:t>
            </a:r>
          </a:p>
          <a:p>
            <a:endParaRPr lang="en-US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76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ACA0-AF46-FC60-83AF-6C1E1A07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683C-905C-A6A0-A44A-004218BF1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FACE RECOGNITION?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FACIAL LANDMARKS?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</a:p>
          <a:p>
            <a:pPr marL="571500" indent="-571500">
              <a:buFont typeface="+mj-lt"/>
              <a:buAutoNum type="arabicPeriod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72266E-038A-20AA-B41D-FA3FC8598199}"/>
              </a:ext>
            </a:extLst>
          </p:cNvPr>
          <p:cNvSpPr/>
          <p:nvPr/>
        </p:nvSpPr>
        <p:spPr>
          <a:xfrm>
            <a:off x="975360" y="1402080"/>
            <a:ext cx="3129280" cy="101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626D740-B4D4-64D3-34F7-1E98DB7123CC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D3993C8-A5BD-98AB-BBB5-7A21BB3F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B0121D3-7867-A9DE-3828-EA9698CB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3FBEE0-1AA6-5A17-4B03-05B5CADAD655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F746E2-1D8C-C87A-5DE6-9C1DAFB1B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4" r="14979"/>
          <a:stretch/>
        </p:blipFill>
        <p:spPr>
          <a:xfrm flipH="1">
            <a:off x="6629371" y="1513524"/>
            <a:ext cx="5003829" cy="446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6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D0FB-2EE0-829E-1E80-3A8A08EB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F4AE-D784-0A01-F576-1082265A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7FC3C-3B1D-456F-D886-F46FBB73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DEMONSTRATION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514350" indent="-514350">
              <a:buFont typeface="+mj-lt"/>
              <a:buAutoNum type="arabicPeriod" startAt="9"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8AB0D1-BB9C-C771-A5B9-D91FA54E0519}"/>
              </a:ext>
            </a:extLst>
          </p:cNvPr>
          <p:cNvSpPr/>
          <p:nvPr/>
        </p:nvSpPr>
        <p:spPr>
          <a:xfrm>
            <a:off x="975360" y="1402080"/>
            <a:ext cx="3129280" cy="101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ABED815-7864-6987-C69C-F11061FA4F3F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46B0A2B-5B21-28D1-9128-FE538E45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7D1C4C-1FD2-0A8C-21A6-6FAC8B582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1773B-9DD8-04B3-B240-3F589A2E5789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876FCC-12B4-C6AA-D761-AEEE6F0EE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4" r="14979"/>
          <a:stretch/>
        </p:blipFill>
        <p:spPr>
          <a:xfrm flipH="1">
            <a:off x="6629371" y="1513524"/>
            <a:ext cx="5003829" cy="446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04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5C31-3D73-83C9-9C93-5E6934C9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B98D-0AB3-4B85-28A8-B7D5C267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9E25-268A-D846-DC31-2CC0F92D9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 driving is a major cause of accidents, leading to severe injuries and fatalities.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 of road accidents are caused by drowsy drivers.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is a </a:t>
            </a: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 technology designed to monitor driver behavior in real-time.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driver fatigue in real-time to prevent accidents.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C394D-96B6-F954-C7E4-5297D19067FE}"/>
              </a:ext>
            </a:extLst>
          </p:cNvPr>
          <p:cNvSpPr/>
          <p:nvPr/>
        </p:nvSpPr>
        <p:spPr>
          <a:xfrm>
            <a:off x="883920" y="1402079"/>
            <a:ext cx="448056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CC3AA6C-25BB-3A48-4875-C6842EC46593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A4A969B-BDBC-1775-9C1C-B72017BD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4615E2-6FE9-D1C4-F0CD-99866E150996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8C3A3358-5053-51B7-9CDF-20162845DCD8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14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4276-0F5B-B1A0-53B5-2DC1B09E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ED8B-4059-3060-30DA-3666A952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FACE RECOGNITION ?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41F1-BE8E-44BF-8CC2-9B91EFA15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is a biometric technology that identifies or verify a person.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facial features from images or videos.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security , authentication , and surveillance.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631EF-33A6-7956-405B-E668F08553B3}"/>
              </a:ext>
            </a:extLst>
          </p:cNvPr>
          <p:cNvSpPr/>
          <p:nvPr/>
        </p:nvSpPr>
        <p:spPr>
          <a:xfrm>
            <a:off x="975360" y="1402079"/>
            <a:ext cx="854456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060423-9F29-6628-4CA4-1073D100BC31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67AB7B-E599-3A53-5FFD-47E094F9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ED6A88-CBA8-B70C-85BA-B1BAADE980EC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FC1798C8-ACD2-BBDA-F110-091571AF1E10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566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8BFFA-3663-F318-3134-135DAEE5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D9BDF-847E-C07D-D6B0-7F8D5E45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FACIAL LANDMARKS?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036E-3B22-955A-823E-E07672E87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landmarks are specific key points on the face.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facial recognition ,animation , medical analysis and AI.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identifying expressions, emotions, and facial structure.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D2295-0320-1EB0-156B-5C7FB7DCF511}"/>
              </a:ext>
            </a:extLst>
          </p:cNvPr>
          <p:cNvSpPr/>
          <p:nvPr/>
        </p:nvSpPr>
        <p:spPr>
          <a:xfrm>
            <a:off x="975360" y="1402079"/>
            <a:ext cx="877824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958AA3D-251B-B09E-568A-29E3293C8BFB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F3453B-56B0-19C0-7D92-FD4D02B6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3025C-9B8F-7F11-5A2B-A4B8D0FEDA20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4884E52D-518C-6C78-C43F-959E9B9A2F8D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99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FCC5-31A0-71E5-B2E4-89D6C685F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0376-AB34-64B2-793B-C8EEB04D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FACIAL LANDMARKS?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23A4-05B1-71CA-1DEE-7AAFA2CC8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68-point Facial Landmark model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in our proposed system.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68 key facial points.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detect drowsiness of driver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3F5FD-C6DB-6A5D-4A3C-B18CDEFB89E5}"/>
              </a:ext>
            </a:extLst>
          </p:cNvPr>
          <p:cNvSpPr/>
          <p:nvPr/>
        </p:nvSpPr>
        <p:spPr>
          <a:xfrm>
            <a:off x="975360" y="1402079"/>
            <a:ext cx="877824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7C9504D-BEFF-32F7-F2E6-EF0CD9BD2AA3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9FF724-EBFD-AC66-0366-E61E752A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36BA9A-6063-A068-B84D-D8C9CFE895CD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690B4854-2D28-FE4D-884A-5CC928C7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51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02BF-9A0B-01C2-916F-DCF36394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32C9-C1F7-A705-BC7C-52E4ED82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FACIAL LANDMARKS?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7E5F0-0ECA-61C3-278C-0F1D90BE2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34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 point Facial Landmark Points breakdown: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Jawline 	     1-17 points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Eyebrows      18-27 points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Nose       28-36 points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      37-48 points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Mouth &amp; Lips      49-68 points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24E55-DC30-2A55-351B-D4F215D8BD1C}"/>
              </a:ext>
            </a:extLst>
          </p:cNvPr>
          <p:cNvSpPr/>
          <p:nvPr/>
        </p:nvSpPr>
        <p:spPr>
          <a:xfrm>
            <a:off x="975360" y="1402079"/>
            <a:ext cx="877824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5723A7A-393C-EA76-E557-72DB09116592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F9BD79B-994C-6310-35E1-8CF56B5B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7402E-E970-18DF-D69E-F6DAA7FFD132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A4F32-B021-5F62-FECD-EC4FD8BD1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245" y="1845944"/>
            <a:ext cx="4587110" cy="433347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85FEA5-D6A7-D8A9-4DA2-E1250BBD6EBF}"/>
              </a:ext>
            </a:extLst>
          </p:cNvPr>
          <p:cNvCxnSpPr>
            <a:cxnSpLocks/>
          </p:cNvCxnSpPr>
          <p:nvPr/>
        </p:nvCxnSpPr>
        <p:spPr>
          <a:xfrm>
            <a:off x="2753360" y="2882451"/>
            <a:ext cx="3759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5495A-4A96-2A48-1848-957187E45C93}"/>
              </a:ext>
            </a:extLst>
          </p:cNvPr>
          <p:cNvCxnSpPr>
            <a:cxnSpLocks/>
          </p:cNvCxnSpPr>
          <p:nvPr/>
        </p:nvCxnSpPr>
        <p:spPr>
          <a:xfrm>
            <a:off x="3033955" y="3534485"/>
            <a:ext cx="3759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855006-D4B0-520B-BB23-E48C8BFD5EC4}"/>
              </a:ext>
            </a:extLst>
          </p:cNvPr>
          <p:cNvCxnSpPr>
            <a:cxnSpLocks/>
          </p:cNvCxnSpPr>
          <p:nvPr/>
        </p:nvCxnSpPr>
        <p:spPr>
          <a:xfrm>
            <a:off x="2397760" y="4208631"/>
            <a:ext cx="3759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13E05B-74F0-F423-A5BB-2C39B1E320A8}"/>
              </a:ext>
            </a:extLst>
          </p:cNvPr>
          <p:cNvCxnSpPr>
            <a:cxnSpLocks/>
          </p:cNvCxnSpPr>
          <p:nvPr/>
        </p:nvCxnSpPr>
        <p:spPr>
          <a:xfrm>
            <a:off x="2209800" y="4877270"/>
            <a:ext cx="3759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94666D-236E-76BA-C3CE-B438BB775EC0}"/>
              </a:ext>
            </a:extLst>
          </p:cNvPr>
          <p:cNvCxnSpPr>
            <a:cxnSpLocks/>
          </p:cNvCxnSpPr>
          <p:nvPr/>
        </p:nvCxnSpPr>
        <p:spPr>
          <a:xfrm>
            <a:off x="3535680" y="5519009"/>
            <a:ext cx="3759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4713B860-91D8-FF4C-B76A-28B4812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39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4780-FE26-9CCB-F8BB-FAA064E8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6CBE-54C7-5D3F-411B-1D9F1DC61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ADE3-201E-7A59-BB4F-3DED56E2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etects driver drowsiness in real-time using video or webcam technology.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revents accidents caused by driver fatigue by providing timely alerts.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monitors facial features such as eye closure , blinking rate , and yawning to identify signs of fatigue.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DD4BC-94A6-A141-88FD-13599F4FF019}"/>
              </a:ext>
            </a:extLst>
          </p:cNvPr>
          <p:cNvSpPr/>
          <p:nvPr/>
        </p:nvSpPr>
        <p:spPr>
          <a:xfrm>
            <a:off x="975360" y="1402079"/>
            <a:ext cx="545592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A03A274-B1A1-4A3E-6E7C-3B058302EAFF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4C1F0D-9217-9CEE-E883-16009302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9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FCA7C-D5D8-7D10-E4D5-58C3DA39AA02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3E4B786E-B0EA-7DED-B29A-A0B0307FF85C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90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A662-0D52-AE95-FB91-CC57F39AE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1A43-FFE7-25F4-015E-96B774B6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BAEFC-4C60-38AC-8586-6B7C51C2B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Triggers alarms , when drowsiness is detected based on the following criteria:</a:t>
            </a:r>
            <a:endParaRPr lang="en-US" sz="2600" b="0" i="0" dirty="0">
              <a:effectLst/>
              <a:latin typeface="ui-sans-serif"/>
            </a:endParaRPr>
          </a:p>
          <a:p>
            <a:pPr lvl="1" algn="just">
              <a:lnSpc>
                <a:spcPct val="150000"/>
              </a:lnSpc>
            </a:pP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eyes are closed for more than 1.5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seconds.</a:t>
            </a:r>
          </a:p>
          <a:p>
            <a:pPr lvl="1" algn="just">
              <a:lnSpc>
                <a:spcPct val="150000"/>
              </a:lnSpc>
            </a:pP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driver yawns more than 3 times within a specific time frame            (60 seconds).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540B1-50F1-06F4-3AFC-A86E9C1D955E}"/>
              </a:ext>
            </a:extLst>
          </p:cNvPr>
          <p:cNvSpPr/>
          <p:nvPr/>
        </p:nvSpPr>
        <p:spPr>
          <a:xfrm>
            <a:off x="975360" y="1402079"/>
            <a:ext cx="545592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515E3D5-4A9D-4E29-0AF7-F3EECB84DC3A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98C5C3-79BF-41D2-A398-6360F4DD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10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835180-CC5E-C120-5123-2B2294C913B9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589F46EF-C82E-5A63-B394-D149933E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593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46449-2E8F-436E-1105-28ACB818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84BA-62BA-B5B6-888F-E2B12923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3D96C-1EF8-AB21-C57B-258D22284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endParaRPr lang="en-US" sz="1600" dirty="0"/>
          </a:p>
          <a:p>
            <a:pPr lvl="1" algn="just"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(IR) Camera: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real-time images of the driver's face. </a:t>
            </a:r>
          </a:p>
          <a:p>
            <a:pPr algn="just">
              <a:lnSpc>
                <a:spcPct val="150000"/>
              </a:lnSpc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1EF07C-EB6D-E7B1-EE51-F1F2089E7A0A}"/>
              </a:ext>
            </a:extLst>
          </p:cNvPr>
          <p:cNvSpPr/>
          <p:nvPr/>
        </p:nvSpPr>
        <p:spPr>
          <a:xfrm>
            <a:off x="975360" y="1402079"/>
            <a:ext cx="635000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B9673FC-A0B8-0D6C-B192-173E53F0A819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D22D63F-6EF0-0A23-5A83-0AFFC2E0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A772E0-065D-58A8-53C8-EECAFB023F29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E0BD3-1F4B-0FB9-F802-F29FC4EEAC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39" b="9325"/>
          <a:stretch/>
        </p:blipFill>
        <p:spPr bwMode="auto">
          <a:xfrm>
            <a:off x="4570730" y="3465195"/>
            <a:ext cx="3050540" cy="2362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Date Placeholder 9">
            <a:extLst>
              <a:ext uri="{FF2B5EF4-FFF2-40B4-BE49-F238E27FC236}">
                <a16:creationId xmlns:a16="http://schemas.microsoft.com/office/drawing/2014/main" id="{2A057E7B-2C3D-67CE-A635-D7AB6A112C74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47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0515-E643-9D68-A137-1C7BC5A6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C00D-AA6F-A26F-AD13-E78631E3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C1323-8AC3-E603-56A0-69CCC49E3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Unit: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video frames for drowsiness.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1F61A-A55D-045A-AE1E-6EE314C6FE1E}"/>
              </a:ext>
            </a:extLst>
          </p:cNvPr>
          <p:cNvSpPr/>
          <p:nvPr/>
        </p:nvSpPr>
        <p:spPr>
          <a:xfrm>
            <a:off x="975360" y="1402079"/>
            <a:ext cx="635000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3DC5688-E7B0-3D2D-CCD2-645A14BB99FF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0C3A39C-66AB-B33B-2589-314E0AE0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D5BD8-473A-B082-1000-8127CAF258DE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B10077-3ABF-ED5A-4D09-D4DED11A95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360" y="3770010"/>
            <a:ext cx="2964180" cy="1976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5E3730-5EFB-0063-41A8-AED8D93AE798}"/>
              </a:ext>
            </a:extLst>
          </p:cNvPr>
          <p:cNvSpPr txBox="1"/>
          <p:nvPr/>
        </p:nvSpPr>
        <p:spPr>
          <a:xfrm>
            <a:off x="2757805" y="5992297"/>
            <a:ext cx="590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-4</a:t>
            </a:r>
          </a:p>
        </p:txBody>
      </p:sp>
      <p:sp>
        <p:nvSpPr>
          <p:cNvPr id="9" name="Date Placeholder 9">
            <a:extLst>
              <a:ext uri="{FF2B5EF4-FFF2-40B4-BE49-F238E27FC236}">
                <a16:creationId xmlns:a16="http://schemas.microsoft.com/office/drawing/2014/main" id="{0FC0EEC9-B36E-8F92-F9BF-722BD5E3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35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EAFD-F87E-9B52-04E2-AF3EE87E1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B0558-26CE-8062-F6C0-D8EDA33E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07A3-921E-679E-451F-0626B2812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endParaRPr lang="en-US" sz="1600" dirty="0"/>
          </a:p>
          <a:p>
            <a:pPr lvl="1" algn="just"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Triggers alarms when drowsiness is detected.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4595E-3BD5-3CB2-D1E4-E01E5DB03469}"/>
              </a:ext>
            </a:extLst>
          </p:cNvPr>
          <p:cNvSpPr/>
          <p:nvPr/>
        </p:nvSpPr>
        <p:spPr>
          <a:xfrm>
            <a:off x="975360" y="1402079"/>
            <a:ext cx="635000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0029DD6-3627-0802-5B32-C33C94688689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80CFE4-69B2-0E07-C84D-D5BA788D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AE295-2103-0B5C-1893-EF91324963E4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B71EA-35BB-CFAF-5A13-4669C41006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0" t="17615" r="11940" b="5229"/>
          <a:stretch/>
        </p:blipFill>
        <p:spPr bwMode="auto">
          <a:xfrm>
            <a:off x="4378960" y="3691890"/>
            <a:ext cx="2560320" cy="2135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Date Placeholder 9">
            <a:extLst>
              <a:ext uri="{FF2B5EF4-FFF2-40B4-BE49-F238E27FC236}">
                <a16:creationId xmlns:a16="http://schemas.microsoft.com/office/drawing/2014/main" id="{7CB6E935-8675-B076-17F9-F83870FC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74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1118D-DF80-0323-2B7E-6D96CD591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EF62-3375-4FF2-A10C-3E309157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3160-5069-3D5D-3EC7-DF8A2A278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6105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endParaRPr lang="en-US" sz="1600" dirty="0"/>
          </a:p>
          <a:p>
            <a:pPr lvl="1" algn="just"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power for continuous operation.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1BA6C4-4027-2458-CE34-154EFF9683A1}"/>
              </a:ext>
            </a:extLst>
          </p:cNvPr>
          <p:cNvSpPr/>
          <p:nvPr/>
        </p:nvSpPr>
        <p:spPr>
          <a:xfrm>
            <a:off x="975360" y="1402079"/>
            <a:ext cx="635000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AFE0A88-67FA-562B-F65B-BAC31890F063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2440A4-DDB8-DEA3-E2F6-9363CEA8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4C4FE-4213-2493-F2A9-C4CDB7BC31CF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B4D70-9BDB-FF6A-415E-114949E1C7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280" y="3489402"/>
            <a:ext cx="3846560" cy="25628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20D66D-741B-65EC-742B-DB4BCDFAC30E}"/>
              </a:ext>
            </a:extLst>
          </p:cNvPr>
          <p:cNvSpPr txBox="1"/>
          <p:nvPr/>
        </p:nvSpPr>
        <p:spPr>
          <a:xfrm>
            <a:off x="3141345" y="6119732"/>
            <a:ext cx="590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car's USB port as a power source.</a:t>
            </a:r>
          </a:p>
        </p:txBody>
      </p:sp>
      <p:sp>
        <p:nvSpPr>
          <p:cNvPr id="9" name="Date Placeholder 9">
            <a:extLst>
              <a:ext uri="{FF2B5EF4-FFF2-40B4-BE49-F238E27FC236}">
                <a16:creationId xmlns:a16="http://schemas.microsoft.com/office/drawing/2014/main" id="{56173E6B-4E57-B116-59A7-AA092055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39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1F0F-8B6C-2FD0-4F30-20A56432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24A0-B781-CF9B-689B-01BEF6F0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6D396-8F0D-3FC1-5434-A6728D149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</a:t>
            </a:r>
            <a:endParaRPr lang="en-US" sz="1600" dirty="0"/>
          </a:p>
          <a:p>
            <a:pPr algn="just">
              <a:lnSpc>
                <a:spcPct val="2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programming language for implementation.</a:t>
            </a:r>
          </a:p>
          <a:p>
            <a:pPr algn="just">
              <a:lnSpc>
                <a:spcPct val="20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image processing and face detection. </a:t>
            </a:r>
          </a:p>
          <a:p>
            <a:pPr algn="just">
              <a:lnSpc>
                <a:spcPct val="200000"/>
              </a:lnSpc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Dlib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facial landmarks like eyes and mouth. </a:t>
            </a:r>
          </a:p>
          <a:p>
            <a:pPr algn="just">
              <a:lnSpc>
                <a:spcPct val="150000"/>
              </a:lnSpc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626CA4-E482-7098-D96E-C64AA645029D}"/>
              </a:ext>
            </a:extLst>
          </p:cNvPr>
          <p:cNvSpPr/>
          <p:nvPr/>
        </p:nvSpPr>
        <p:spPr>
          <a:xfrm>
            <a:off x="975360" y="1402079"/>
            <a:ext cx="635000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9372802-6BC9-8D21-6FF0-7A42CDC3328E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C973DC-1C83-8DBB-ECF7-7C30EC28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7D548-79B8-E4EA-C508-E9A5F383E80C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C6DFE64A-1C0E-28BB-CBD0-CF351C4A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546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3FC40-071D-3300-97E4-8A9DB3C9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1DAC-8C7D-4EEE-BAF5-34F39AB0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344A-B01E-527B-03E3-926AED6AF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E36E9-1664-8C07-B3D6-8E79ACB36EF6}"/>
              </a:ext>
            </a:extLst>
          </p:cNvPr>
          <p:cNvSpPr/>
          <p:nvPr/>
        </p:nvSpPr>
        <p:spPr>
          <a:xfrm>
            <a:off x="975360" y="1402079"/>
            <a:ext cx="699008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E342AFD-C100-C1D5-0D36-E944D350DF9A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83AC5D-9280-25F7-A722-19034AA0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C351E-ACD4-8748-7462-40015E99EB79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93400-B2B2-02EC-D68B-E6667F5346F2}"/>
              </a:ext>
            </a:extLst>
          </p:cNvPr>
          <p:cNvSpPr txBox="1"/>
          <p:nvPr/>
        </p:nvSpPr>
        <p:spPr>
          <a:xfrm>
            <a:off x="4249420" y="6242402"/>
            <a:ext cx="570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Facial recognition &amp; Eyes Detection System</a:t>
            </a:r>
          </a:p>
        </p:txBody>
      </p:sp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AABDCCD7-4D0C-AC7D-6E6D-4AC5AF14A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30" y="1599599"/>
            <a:ext cx="8207340" cy="4577364"/>
          </a:xfrm>
          <a:prstGeom prst="rect">
            <a:avLst/>
          </a:prstGeom>
        </p:spPr>
      </p:pic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C6A58016-5BCC-72D3-580C-17EA65B8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110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BE2F-049E-2595-26B1-F9A6D811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025E-5641-86E8-B31A-C7169EAC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8848B-6E2C-3F8D-1A25-3B231B3D7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46969-A42F-F574-D914-28A130C8639A}"/>
              </a:ext>
            </a:extLst>
          </p:cNvPr>
          <p:cNvSpPr/>
          <p:nvPr/>
        </p:nvSpPr>
        <p:spPr>
          <a:xfrm>
            <a:off x="975360" y="1402079"/>
            <a:ext cx="699008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220FD32-3937-FECF-2973-054550503A39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C48188-3D9C-461C-76E3-836C2C8C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44735-3A74-DC1E-58C4-CB28A1C28141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52A818EB-4D48-64D2-692C-C2B05B25D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52"/>
          <a:stretch/>
        </p:blipFill>
        <p:spPr>
          <a:xfrm>
            <a:off x="1056640" y="2187495"/>
            <a:ext cx="10078720" cy="3639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257B9B-D980-F936-74F6-C676739177A4}"/>
              </a:ext>
            </a:extLst>
          </p:cNvPr>
          <p:cNvSpPr txBox="1"/>
          <p:nvPr/>
        </p:nvSpPr>
        <p:spPr>
          <a:xfrm>
            <a:off x="3911600" y="6081475"/>
            <a:ext cx="456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Eyes Detection &amp; Yawn detection  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2712A9B8-19AE-06F3-D7EF-6A27B203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0320-3238-E299-8E69-914F17B6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49BC-0575-8FA9-8CC5-7240D516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2A89A-F30D-610A-E632-8A1C83B0D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5600" indent="-3556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Sequence: </a:t>
            </a:r>
            <a:endParaRPr lang="en-US" sz="2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SzPct val="100000"/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starts with a video sequence, which is a continuous stream of video frames captured by a camera focused on the driver.</a:t>
            </a:r>
          </a:p>
          <a:p>
            <a:pPr marL="457200" indent="-457200" algn="just">
              <a:lnSpc>
                <a:spcPct val="150000"/>
              </a:lnSpc>
              <a:buSzPct val="100000"/>
              <a:buFont typeface="+mj-lt"/>
              <a:buAutoNum type="arabicPeriod" startAt="2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and Tracking: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SzPct val="100000"/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image processing and face recognition techniques to detect and track the driver’s face in real-time.</a:t>
            </a:r>
            <a:endParaRPr lang="en-US" sz="26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SzPct val="100000"/>
              <a:buNone/>
            </a:pPr>
            <a:endParaRPr lang="en-US" sz="26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SzPct val="100000"/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SzPct val="100000"/>
              <a:buNone/>
            </a:pPr>
            <a:endParaRPr lang="en-US" sz="26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F6A180-40AB-7460-EE31-E813CAD63F2D}"/>
              </a:ext>
            </a:extLst>
          </p:cNvPr>
          <p:cNvSpPr/>
          <p:nvPr/>
        </p:nvSpPr>
        <p:spPr>
          <a:xfrm>
            <a:off x="975360" y="1402079"/>
            <a:ext cx="699008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1DA8B77-57D8-7476-5E84-D908F9749067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AC57C86-3876-54EC-8173-DD46618F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6E8C4-ABDA-72E3-8A99-1FA2919C97CC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F9C17FB7-E418-932A-0269-CF0C23495355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467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4086-8138-E953-3B08-6F34CFC9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2D74-EBE0-D282-4238-E875D8F9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2C72B-8CEB-23A8-17E9-F58BB5298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300000"/>
              </a:lnSpc>
              <a:buFont typeface="+mj-lt"/>
              <a:buAutoNum type="arabicPeriod" startAt="3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Drowsiness Detection</a:t>
            </a: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25488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Eye Detection :</a:t>
            </a:r>
            <a:endParaRPr lang="en-US" sz="26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checks if the eyes are closed for an extended period (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1.5 seconds)</a:t>
            </a: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that indicates potential drowsiness.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13304-AC3D-73C6-5477-D0AF5D83AD97}"/>
              </a:ext>
            </a:extLst>
          </p:cNvPr>
          <p:cNvSpPr/>
          <p:nvPr/>
        </p:nvSpPr>
        <p:spPr>
          <a:xfrm>
            <a:off x="975360" y="1402079"/>
            <a:ext cx="699008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4B38AF5-CE7C-257D-674E-5D56EBF7871D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E9A9325-F968-7623-F5CE-14836F15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19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E65BD3-C4B6-5C3B-EE06-23F0EE2104C0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77B83943-6870-CE5F-2D5B-675F3C8AE14A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919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49836-361C-6B38-8403-B87416F2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8823-BB6C-4BD7-8E3A-A5AFB7E2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58D89-737C-FD29-C84C-6F2EBD84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Yawn Detection :</a:t>
            </a:r>
          </a:p>
          <a:p>
            <a:pPr lvl="1" algn="just">
              <a:lnSpc>
                <a:spcPct val="200000"/>
              </a:lnSpc>
            </a:pP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mouth opens wide, it may indicate yawning.</a:t>
            </a:r>
          </a:p>
          <a:p>
            <a:pPr lvl="1" algn="just">
              <a:lnSpc>
                <a:spcPct val="2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driver yawns more than 3 times within 60 seconds, that</a:t>
            </a:r>
            <a:r>
              <a:rPr lang="en-US" sz="2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indicates potential drowsiness.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9AF22E-6724-79FA-2B35-6FE862BC7B75}"/>
              </a:ext>
            </a:extLst>
          </p:cNvPr>
          <p:cNvSpPr/>
          <p:nvPr/>
        </p:nvSpPr>
        <p:spPr>
          <a:xfrm>
            <a:off x="975360" y="1402079"/>
            <a:ext cx="699008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CF00FA5-FD6C-3AF4-D9F2-B2B156D265DB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2F6AAE4-2CF2-BB8E-AFDA-2A1043C9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20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586FF-2A12-5A95-7D61-A054572B7FF1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7E1650E3-EE8C-7D55-4286-2887D3D1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015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CBBF2-E51A-5C2C-E573-9934A610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D15A-27FC-F936-AC8E-993B3B46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4C01-DD92-E699-6CE0-FCDDE8EA5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 startAt="4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System Activation:</a:t>
            </a:r>
          </a:p>
          <a:p>
            <a:pPr lvl="1" algn="just">
              <a:lnSpc>
                <a:spcPct val="150000"/>
              </a:lnSpc>
            </a:pP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eye closure and yawning data, the system determines if the driver is drowsy.</a:t>
            </a:r>
          </a:p>
          <a:p>
            <a:pPr lvl="1" algn="just">
              <a:lnSpc>
                <a:spcPct val="150000"/>
              </a:lnSpc>
            </a:pP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drowsiness is confirmed, an alarm is triggered to alert the driver that can be visual or auditory.</a:t>
            </a:r>
            <a:endParaRPr lang="en-US" sz="26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422E13-9256-567A-ACE0-8A495D02BE62}"/>
              </a:ext>
            </a:extLst>
          </p:cNvPr>
          <p:cNvSpPr/>
          <p:nvPr/>
        </p:nvSpPr>
        <p:spPr>
          <a:xfrm>
            <a:off x="975360" y="1402079"/>
            <a:ext cx="699008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FC5488C-94A6-DE8E-0205-E0E944EE6348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A79DF4-4237-0EB9-D501-33992F89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9BC56-04AA-4816-B49B-F848776F2541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4015059C-ED0F-2497-DA0B-6D2C934D9358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977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2A81-65E3-DF76-2465-CC728ED4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FFDE-B76A-F348-70D1-A9F2DB2E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00C1-92FE-DE1F-2D7B-4E820A73A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endParaRPr lang="en-US" sz="26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2E5D71-DDB6-5A56-7B77-DFE5AF21FF6C}"/>
              </a:ext>
            </a:extLst>
          </p:cNvPr>
          <p:cNvSpPr/>
          <p:nvPr/>
        </p:nvSpPr>
        <p:spPr>
          <a:xfrm>
            <a:off x="975360" y="1402079"/>
            <a:ext cx="6187440" cy="1052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95BBA46-A176-8EC0-7F78-7C346828F4D3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4BACFE-3A64-D13E-5150-8EE840EC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AD500-4255-31EB-80B5-F5E9C2FAC8B3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31CD74E0-76A4-F70D-760D-B9868624BE7B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283B97-7AB8-9A02-EE0B-2E6C032E9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1"/>
          <a:stretch/>
        </p:blipFill>
        <p:spPr>
          <a:xfrm>
            <a:off x="3770145" y="1642257"/>
            <a:ext cx="4018391" cy="514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34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DCC4-573D-FD3A-2DC5-C05B4C05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94A1C-FD56-78BB-926F-4130852C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EF97-43BC-F27F-F6EB-50E4245E8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69068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Accidents: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road accidents caused by driver fatigue.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Low Light: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(IR) cameras ensure night-time detection.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Non-Intrusive: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camera for detection, no need for wearable sensors.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51F92A-8DE7-9118-00FA-6E93D62A02DD}"/>
              </a:ext>
            </a:extLst>
          </p:cNvPr>
          <p:cNvSpPr/>
          <p:nvPr/>
        </p:nvSpPr>
        <p:spPr>
          <a:xfrm>
            <a:off x="975360" y="1402079"/>
            <a:ext cx="385064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13C11F4-7D2B-5E20-7866-DF83DAED07B8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E01E65-C52B-C53A-6CC9-5363F8A4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D2D54-B3A0-C6FA-F797-E26CE47946B5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7BFA9701-06F8-4D17-8790-699AF4B0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41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403C-F167-71E6-5E05-0C88C609D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5973-59DB-1FA0-2BEB-D1BF4108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2607-9166-4ECB-8DB5-7B437A1C0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69068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tracks driver behavior and alerts instantly.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affordable hardware like webcams and open-source AI tools.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563" indent="-182563" algn="just">
              <a:lnSpc>
                <a:spcPct val="150000"/>
              </a:lnSpc>
              <a:buFont typeface="+mj-lt"/>
              <a:buAutoNum type="arabicPeriod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10A64-EB97-06B2-0CF1-F536496D5470}"/>
              </a:ext>
            </a:extLst>
          </p:cNvPr>
          <p:cNvSpPr/>
          <p:nvPr/>
        </p:nvSpPr>
        <p:spPr>
          <a:xfrm>
            <a:off x="975360" y="1402079"/>
            <a:ext cx="385064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0768C61-01E9-E859-A3CF-9DB9540052B7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175F27-8973-C010-1BB3-CC970D76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AE699F-2A80-225F-50C9-8CF8A54D879D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B6B63175-52A6-7B53-77DF-368F875C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765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0B71-8151-B4BF-6454-CA562757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536-5184-743B-7F0F-E11320A1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A73AD-3FC6-496D-7494-190139460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825625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Conditions: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Low-quality cameras may struggle to perform accurately in extreme lighting, such as bright sunlight or low-light environments.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Limitations: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accuracy depends on high-quality cameras and other components, which may not always be affordable.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DD330B-0294-3D5C-E809-903045C39AD1}"/>
              </a:ext>
            </a:extLst>
          </p:cNvPr>
          <p:cNvSpPr/>
          <p:nvPr/>
        </p:nvSpPr>
        <p:spPr>
          <a:xfrm>
            <a:off x="975360" y="1402079"/>
            <a:ext cx="468376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19B8D1B-225D-63D7-3DFF-38D603B7922F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24307C-2F85-BFFF-ED8A-50E86982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AA6819-B368-6D88-2D25-6C10DF388484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9868F454-EE17-1CE0-AFC5-2EACD043AF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92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EB956-4A0E-5A27-83EA-0D6B0DA1C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029F-0ACF-E100-7909-6BB2BCD3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A145-23BB-853C-296A-ADA395109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825625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Movements: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or sudden head movements by the driver can cause face detection algorithms to fail, reducing system reliability.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Alerts &amp; Accuracy Issue: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trigger alerts for normal actions like blinking or brief glances.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alerts can be annoying or distracting, reducing user adoption.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E39898-9215-13DF-5E6C-8C0EB09C449B}"/>
              </a:ext>
            </a:extLst>
          </p:cNvPr>
          <p:cNvSpPr/>
          <p:nvPr/>
        </p:nvSpPr>
        <p:spPr>
          <a:xfrm>
            <a:off x="975360" y="1402079"/>
            <a:ext cx="468376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6703EFD-FF72-182C-42FF-9711FC67B2A0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EC677A1-34E6-E126-D4ED-9D46AC67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9CF761-D4FC-B30D-CC08-C2915002D7A5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B23FEF8A-725A-FE0F-F848-19A4F0D1566F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186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C4C71-73F2-CEAA-7B5E-9FE7363A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CCDD-B638-F0F1-643E-467FD4DA4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792" y="3475357"/>
            <a:ext cx="10909155" cy="245274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DEMONSTRATION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E0F0BC-795B-5556-0977-C8F14D755FEE}"/>
              </a:ext>
            </a:extLst>
          </p:cNvPr>
          <p:cNvSpPr/>
          <p:nvPr/>
        </p:nvSpPr>
        <p:spPr>
          <a:xfrm>
            <a:off x="962807" y="5179697"/>
            <a:ext cx="7320582" cy="2032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2C8020F-47B5-C429-87EE-900C448E4F40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F8C7FC-17D9-39E2-AEB2-A1F16BCB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58F87-9203-ECA5-6009-3B9A186D9B35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CFFED35-55DE-C9A6-8BA5-DF91393633FC}"/>
              </a:ext>
            </a:extLst>
          </p:cNvPr>
          <p:cNvSpPr/>
          <p:nvPr/>
        </p:nvSpPr>
        <p:spPr>
          <a:xfrm>
            <a:off x="10001870" y="-710111"/>
            <a:ext cx="4380260" cy="425412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6972DCD-3A42-8D1D-7676-7C1C68CDE767}"/>
              </a:ext>
            </a:extLst>
          </p:cNvPr>
          <p:cNvSpPr/>
          <p:nvPr/>
        </p:nvSpPr>
        <p:spPr>
          <a:xfrm>
            <a:off x="5615762" y="1475027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F527F547-8585-EB90-07D1-CF4EC5EE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719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EABE-995E-AFE9-288C-82A48012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21866A0-777F-3DAA-0258-A00F65BAE502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932AC1-75DD-ACE4-6837-F686A9B3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5644FE-641F-C7EC-E4C4-856E859172DF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8DC2F60-BDC5-7587-0470-3FACA1DFA97A}"/>
              </a:ext>
            </a:extLst>
          </p:cNvPr>
          <p:cNvSpPr/>
          <p:nvPr/>
        </p:nvSpPr>
        <p:spPr>
          <a:xfrm>
            <a:off x="10001870" y="-710111"/>
            <a:ext cx="4380260" cy="425412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Video 3">
            <a:hlinkClick r:id="" action="ppaction://media"/>
            <a:extLst>
              <a:ext uri="{FF2B5EF4-FFF2-40B4-BE49-F238E27FC236}">
                <a16:creationId xmlns:a16="http://schemas.microsoft.com/office/drawing/2014/main" id="{37DC4536-0683-3E17-72B2-01E3FA0E3E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79349" y="685799"/>
            <a:ext cx="10140875" cy="5704242"/>
          </a:xfrm>
          <a:prstGeom prst="rect">
            <a:avLst/>
          </a:prstGeom>
        </p:spPr>
      </p:pic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886699E1-5FCE-9449-2F9A-F742E77DC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45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2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DD0F-B2FC-D287-F7FE-70CC92A4C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DBBB5-49E1-E06C-088E-BB73588D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D123-793A-D525-77A3-E8172154A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825625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effective solution for detecting driver drowsiness.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advancements may include integration with vehicle automation systems, leading to autonomous emergency braking or driver intervention.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8C9F8-CA4A-CA96-0BCF-143D27BEA3B4}"/>
              </a:ext>
            </a:extLst>
          </p:cNvPr>
          <p:cNvSpPr/>
          <p:nvPr/>
        </p:nvSpPr>
        <p:spPr>
          <a:xfrm>
            <a:off x="975360" y="1402079"/>
            <a:ext cx="385064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4AD009D-2ED1-FE66-654E-BFDC4B3B697F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7E475E-F613-369F-41F8-9B32A770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29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E335D-D550-F35D-AE9F-1F39D0247442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55F9E45F-A8CF-6880-94D6-BEABAB19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016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ED1B-892D-F8D7-3043-8968FD3F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152A-1E89-3962-0355-FD82D7B8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787F-4A1C-E468-093F-222A75EB4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871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Boon-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 and Wan-Young Chung published “Driver Alertness Monitoring Using Fusion of Facial Features and Bio-Signals”, (IEEE) Sensors journal, vol. 12, no. 7,2012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“Detecting Driver Drowsiness Based on Sensors A Review”,pp.16937-16953, ISSN 1424-8220, Malaysia 2012.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Rau P. “Driver Drowsiness Detection and Warning System for Commercial Vehicle” “Driver’s Field Operational Test Design, Analysis, and Progress”.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D664DCC-0A39-0486-AAC8-F352F692AEDF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444658-D7F9-5267-2F88-38B160CF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30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6872D4-5FAE-D3E6-9AAD-815D44427B8C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24EC11-1C1B-FDF4-8C65-943BB2E8DA5E}"/>
              </a:ext>
            </a:extLst>
          </p:cNvPr>
          <p:cNvSpPr/>
          <p:nvPr/>
        </p:nvSpPr>
        <p:spPr>
          <a:xfrm>
            <a:off x="944880" y="1402079"/>
            <a:ext cx="3850640" cy="1114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00EEBBE0-3758-58DD-61ED-33F5766696EA}"/>
              </a:ext>
            </a:extLst>
          </p:cNvPr>
          <p:cNvSpPr txBox="1">
            <a:spLocks/>
          </p:cNvSpPr>
          <p:nvPr/>
        </p:nvSpPr>
        <p:spPr>
          <a:xfrm>
            <a:off x="9270409" y="6489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948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AC8B-6FC9-DDC0-1D74-57763B55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4D39-D249-8F8E-93D9-BCDEB57A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4013"/>
            <a:ext cx="7774172" cy="2452749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7C811D-0675-380A-E103-E8E405FCF452}"/>
              </a:ext>
            </a:extLst>
          </p:cNvPr>
          <p:cNvSpPr/>
          <p:nvPr/>
        </p:nvSpPr>
        <p:spPr>
          <a:xfrm>
            <a:off x="1005839" y="5179698"/>
            <a:ext cx="4044625" cy="1553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177E605-F518-D693-A5AD-38BD45F82FA7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84E592-7A98-0DDA-8DE5-7E8B753D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31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CA8A0E-1656-8143-77F0-A6254EC86623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0F879AE-270E-BA1D-317D-77B92D3B3113}"/>
              </a:ext>
            </a:extLst>
          </p:cNvPr>
          <p:cNvSpPr/>
          <p:nvPr/>
        </p:nvSpPr>
        <p:spPr>
          <a:xfrm>
            <a:off x="10001870" y="-710111"/>
            <a:ext cx="4380260" cy="425412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D996F8F8-2269-2C76-7574-8EBF45E2B9D5}"/>
              </a:ext>
            </a:extLst>
          </p:cNvPr>
          <p:cNvSpPr/>
          <p:nvPr/>
        </p:nvSpPr>
        <p:spPr>
          <a:xfrm>
            <a:off x="5615762" y="1475027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9DDFEC4B-5D87-2E79-D086-B3605C3D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223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5BAF7-ACEA-CC03-B80A-2AA8AC828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730-A5B8-DB81-1D54-282724E8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4013"/>
            <a:ext cx="7774172" cy="2452749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US" sz="1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AA24F-A155-4594-9FBF-CB50E13183A4}"/>
              </a:ext>
            </a:extLst>
          </p:cNvPr>
          <p:cNvSpPr/>
          <p:nvPr/>
        </p:nvSpPr>
        <p:spPr>
          <a:xfrm>
            <a:off x="1005840" y="5179698"/>
            <a:ext cx="3087696" cy="1553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2644B42-584B-92BA-B90B-CB0968B264DD}"/>
              </a:ext>
            </a:extLst>
          </p:cNvPr>
          <p:cNvSpPr/>
          <p:nvPr/>
        </p:nvSpPr>
        <p:spPr>
          <a:xfrm>
            <a:off x="-833120" y="5827395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756004-A1FC-E5EF-32B4-251DCA9B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204720" y="6306502"/>
            <a:ext cx="2743200" cy="365125"/>
          </a:xfrm>
        </p:spPr>
        <p:txBody>
          <a:bodyPr/>
          <a:lstStyle/>
          <a:p>
            <a:fld id="{1D4E21F7-9AFC-4BD0-BF54-87EC55377998}" type="slidenum">
              <a:rPr lang="en-US" b="1" smtClean="0">
                <a:solidFill>
                  <a:schemeClr val="bg1"/>
                </a:solidFill>
              </a:rPr>
              <a:t>32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7CBEFE-ED9F-1370-76D1-E61BDE6DA840}"/>
              </a:ext>
            </a:extLst>
          </p:cNvPr>
          <p:cNvSpPr txBox="1"/>
          <p:nvPr/>
        </p:nvSpPr>
        <p:spPr>
          <a:xfrm>
            <a:off x="883920" y="186373"/>
            <a:ext cx="545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Detection System 2022-2025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8EF7D1B-417E-E0F9-FC71-42E195DCB172}"/>
              </a:ext>
            </a:extLst>
          </p:cNvPr>
          <p:cNvSpPr/>
          <p:nvPr/>
        </p:nvSpPr>
        <p:spPr>
          <a:xfrm>
            <a:off x="10001870" y="-710111"/>
            <a:ext cx="4380260" cy="4254124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153FA25-BB80-852D-F84B-9DCB6362285E}"/>
              </a:ext>
            </a:extLst>
          </p:cNvPr>
          <p:cNvSpPr/>
          <p:nvPr/>
        </p:nvSpPr>
        <p:spPr>
          <a:xfrm>
            <a:off x="5615762" y="1475027"/>
            <a:ext cx="1838960" cy="183896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DFAA643B-11D7-7E2D-6F25-7DA87282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0409" y="6489064"/>
            <a:ext cx="2743200" cy="365125"/>
          </a:xfrm>
        </p:spPr>
        <p:txBody>
          <a:bodyPr/>
          <a:lstStyle/>
          <a:p>
            <a:pPr algn="ctr"/>
            <a:fld id="{D16EBFF9-793A-435A-A3A2-209BAD05E348}" type="datetime1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algn="ctr"/>
              <a:t>2/25/2025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96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1165</Words>
  <Application>Microsoft Office PowerPoint</Application>
  <PresentationFormat>Widescreen</PresentationFormat>
  <Paragraphs>262</Paragraphs>
  <Slides>32</Slides>
  <Notes>31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ui-sans-serif</vt:lpstr>
      <vt:lpstr>Wingdings</vt:lpstr>
      <vt:lpstr>Office Theme</vt:lpstr>
      <vt:lpstr>PowerPoint Presentation</vt:lpstr>
      <vt:lpstr>CONTENTS</vt:lpstr>
      <vt:lpstr>CONTENTS</vt:lpstr>
      <vt:lpstr>INTRODUCTION</vt:lpstr>
      <vt:lpstr>WHAT IS FACE RECOGNITION ?</vt:lpstr>
      <vt:lpstr>WHAT IS FACIAL LANDMARKS?</vt:lpstr>
      <vt:lpstr>WHAT IS FACIAL LANDMARKS?</vt:lpstr>
      <vt:lpstr>WHAT IS FACIAL LANDMARKS?</vt:lpstr>
      <vt:lpstr>PROPOSED SYSTEM</vt:lpstr>
      <vt:lpstr>PROPOSED SYSTEM</vt:lpstr>
      <vt:lpstr>SYSTEM COMPONENTS </vt:lpstr>
      <vt:lpstr>SYSTEM COMPONENTS </vt:lpstr>
      <vt:lpstr>SYSTEM COMPONENTS </vt:lpstr>
      <vt:lpstr>SYSTEM COMPONENTS </vt:lpstr>
      <vt:lpstr>SYSTEM COMPONENTS </vt:lpstr>
      <vt:lpstr>SYSTEM ARCHITECTURE</vt:lpstr>
      <vt:lpstr>SYSTEM ARCHITECTURE</vt:lpstr>
      <vt:lpstr>SYSTEM ARCHITECTURE</vt:lpstr>
      <vt:lpstr>SYSTEM ARCHITECTURE</vt:lpstr>
      <vt:lpstr>SYSTEM ARCHITECTURE</vt:lpstr>
      <vt:lpstr>SYSTEM ARCHITECTURE</vt:lpstr>
      <vt:lpstr>SYSTEM FLOWCHART</vt:lpstr>
      <vt:lpstr>ADVANTAGES</vt:lpstr>
      <vt:lpstr>ADVANTAGES</vt:lpstr>
      <vt:lpstr>DISADVANTAGES</vt:lpstr>
      <vt:lpstr>DISADVANTAGES</vt:lpstr>
      <vt:lpstr>SYSTEM DEMONSTRATION</vt:lpstr>
      <vt:lpstr>PowerPoint Presentation</vt:lpstr>
      <vt:lpstr>CONCLUSION</vt:lpstr>
      <vt:lpstr>REFERENCES</vt:lpstr>
      <vt:lpstr>THANK YOU</vt:lpstr>
      <vt:lpstr>QUERIES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Printo Mathew</dc:creator>
  <cp:lastModifiedBy>Printo Mathew</cp:lastModifiedBy>
  <cp:revision>21</cp:revision>
  <dcterms:created xsi:type="dcterms:W3CDTF">2025-02-20T14:42:17Z</dcterms:created>
  <dcterms:modified xsi:type="dcterms:W3CDTF">2025-02-25T05:03:45Z</dcterms:modified>
</cp:coreProperties>
</file>